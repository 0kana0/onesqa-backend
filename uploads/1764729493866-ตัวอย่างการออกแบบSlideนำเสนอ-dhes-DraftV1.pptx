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2"/>
    <p:sldId id="260" r:id="rId3"/>
    <p:sldId id="261" r:id="rId4"/>
  </p:sldIdLst>
  <p:sldSz cx="12192000" cy="6858000"/>
  <p:notesSz cx="6858000" cy="9144000"/>
  <p:embeddedFontLs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Calibri Light" panose="020F0302020204030204" pitchFamily="34" charset="0"/>
      <p:regular r:id="rId10"/>
      <p:italic r:id="rId11"/>
    </p:embeddedFont>
    <p:embeddedFont>
      <p:font typeface="Kanit" panose="020B0604020202020204" charset="-34"/>
      <p:regular r:id="rId12"/>
      <p:bold r:id="rId13"/>
      <p:italic r:id="rId14"/>
      <p:boldItalic r:id="rId15"/>
    </p:embeddedFont>
    <p:embeddedFont>
      <p:font typeface="Kanit Light" panose="020B0604020202020204" charset="-34"/>
      <p:regular r:id="rId16"/>
      <p:italic r:id="rId17"/>
    </p:embeddedFont>
  </p:embeddedFontLst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747"/>
    <a:srgbClr val="CE86FA"/>
    <a:srgbClr val="FF8181"/>
    <a:srgbClr val="F7A809"/>
    <a:srgbClr val="FFFFCC"/>
    <a:srgbClr val="66FF99"/>
    <a:srgbClr val="CBF9B1"/>
    <a:srgbClr val="C7760B"/>
    <a:srgbClr val="C6AB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>
      <p:cViewPr>
        <p:scale>
          <a:sx n="66" d="100"/>
          <a:sy n="66" d="100"/>
        </p:scale>
        <p:origin x="1320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oleObject" Target="file:///C:\Users\Admin\Downloads\&#3586;&#3657;&#3629;&#3617;&#3641;&#3621;&#3585;&#3634;&#3619;&#3592;&#3629;&#3591;&#3627;&#3657;&#3629;&#3591;&#3611;&#3619;&#3632;&#3594;&#3640;&#3617;17.11.20.xlsx" TargetMode="External"/><Relationship Id="rId4" Type="http://schemas.openxmlformats.org/officeDocument/2006/relationships/image" Target="../media/image3.png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&#3586;&#3657;&#3629;&#3617;&#3641;&#3621;&#3585;&#3634;&#3619;&#3592;&#3629;&#3591;&#3627;&#3657;&#3629;&#3591;&#3611;&#3619;&#3632;&#3594;&#3640;&#3617;17.11.20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h-TH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[ข้อมูลการจองห้องประชุม17.11.20.xlsx]จำนวนการใช้ในแต่ละเดือน!PivotTable2</c:name>
    <c:fmtId val="16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th-TH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th-TH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th-TH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th-TH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th-TH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th-TH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th-TH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1.7952568190020352E-2"/>
          <c:y val="8.7651413557020691E-2"/>
          <c:w val="0.95789070089828143"/>
          <c:h val="0.587287502662536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จำนวนการใช้ในแต่ละเดือน!$B$3:$B$4</c:f>
              <c:strCache>
                <c:ptCount val="1"/>
                <c:pt idx="0">
                  <c:v>ห้องประชุม 1</c:v>
                </c:pt>
              </c:strCache>
            </c:strRef>
          </c:tx>
          <c:spPr>
            <a:blipFill>
              <a:blip xmlns:r="http://schemas.openxmlformats.org/officeDocument/2006/relationships" r:embed="rId3"/>
              <a:stretch>
                <a:fillRect/>
              </a:stretch>
            </a:blipFill>
            <a:ln>
              <a:noFill/>
            </a:ln>
            <a:effectLst/>
          </c:spPr>
          <c:invertIfNegative val="0"/>
          <c:dLbls>
            <c:spPr>
              <a:noFill/>
              <a:ln w="38100"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accent2"/>
                    </a:solidFill>
                    <a:latin typeface="Kanit" panose="00000500000000000000" pitchFamily="2" charset="-34"/>
                    <a:ea typeface="+mn-ea"/>
                    <a:cs typeface="Kanit" panose="00000500000000000000" pitchFamily="2" charset="-34"/>
                  </a:defRPr>
                </a:pPr>
                <a:endParaRPr lang="th-T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จำนวนการใช้ในแต่ละเดือน!$A$5:$A$14</c:f>
              <c:strCache>
                <c:ptCount val="9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</c:strCache>
            </c:strRef>
          </c:cat>
          <c:val>
            <c:numRef>
              <c:f>จำนวนการใช้ในแต่ละเดือน!$B$5:$B$14</c:f>
              <c:numCache>
                <c:formatCode>General</c:formatCode>
                <c:ptCount val="9"/>
                <c:pt idx="0">
                  <c:v>10</c:v>
                </c:pt>
                <c:pt idx="1">
                  <c:v>10</c:v>
                </c:pt>
                <c:pt idx="2">
                  <c:v>17</c:v>
                </c:pt>
                <c:pt idx="3">
                  <c:v>15</c:v>
                </c:pt>
                <c:pt idx="4">
                  <c:v>23</c:v>
                </c:pt>
                <c:pt idx="5">
                  <c:v>14</c:v>
                </c:pt>
                <c:pt idx="6">
                  <c:v>17</c:v>
                </c:pt>
                <c:pt idx="7">
                  <c:v>16</c:v>
                </c:pt>
                <c:pt idx="8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B9-43B8-A4F3-7C3AAD2D9456}"/>
            </c:ext>
          </c:extLst>
        </c:ser>
        <c:ser>
          <c:idx val="1"/>
          <c:order val="1"/>
          <c:tx>
            <c:strRef>
              <c:f>จำนวนการใช้ในแต่ละเดือน!$C$3:$C$4</c:f>
              <c:strCache>
                <c:ptCount val="1"/>
                <c:pt idx="0">
                  <c:v>ห้องประชุม 2</c:v>
                </c:pt>
              </c:strCache>
            </c:strRef>
          </c:tx>
          <c:spPr>
            <a:blipFill>
              <a:blip xmlns:r="http://schemas.openxmlformats.org/officeDocument/2006/relationships" r:embed="rId4"/>
              <a:stretch>
                <a:fillRect/>
              </a:stretch>
            </a:blipFill>
            <a:ln>
              <a:noFill/>
            </a:ln>
            <a:effectLst/>
          </c:spPr>
          <c:invertIfNegative val="0"/>
          <c:dLbls>
            <c:spPr>
              <a:noFill/>
              <a:ln w="38100"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rgbClr val="F7A809"/>
                    </a:solidFill>
                    <a:latin typeface="Kanit" panose="00000500000000000000" pitchFamily="2" charset="-34"/>
                    <a:ea typeface="+mn-ea"/>
                    <a:cs typeface="Kanit" panose="00000500000000000000" pitchFamily="2" charset="-34"/>
                  </a:defRPr>
                </a:pPr>
                <a:endParaRPr lang="th-T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จำนวนการใช้ในแต่ละเดือน!$A$5:$A$14</c:f>
              <c:strCache>
                <c:ptCount val="9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</c:strCache>
            </c:strRef>
          </c:cat>
          <c:val>
            <c:numRef>
              <c:f>จำนวนการใช้ในแต่ละเดือน!$C$5:$C$14</c:f>
              <c:numCache>
                <c:formatCode>General</c:formatCode>
                <c:ptCount val="9"/>
                <c:pt idx="0">
                  <c:v>3</c:v>
                </c:pt>
                <c:pt idx="1">
                  <c:v>6</c:v>
                </c:pt>
                <c:pt idx="2">
                  <c:v>12</c:v>
                </c:pt>
                <c:pt idx="3">
                  <c:v>12</c:v>
                </c:pt>
                <c:pt idx="4">
                  <c:v>13</c:v>
                </c:pt>
                <c:pt idx="5">
                  <c:v>17</c:v>
                </c:pt>
                <c:pt idx="6">
                  <c:v>14</c:v>
                </c:pt>
                <c:pt idx="7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B9-43B8-A4F3-7C3AAD2D94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-41"/>
        <c:axId val="1178995616"/>
        <c:axId val="1180991008"/>
      </c:barChart>
      <c:catAx>
        <c:axId val="1178995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nit Light" panose="00000400000000000000" pitchFamily="2" charset="-34"/>
                <a:ea typeface="+mn-ea"/>
                <a:cs typeface="Kanit Light" panose="00000400000000000000" pitchFamily="2" charset="-34"/>
              </a:defRPr>
            </a:pPr>
            <a:endParaRPr lang="th-TH"/>
          </a:p>
        </c:txPr>
        <c:crossAx val="1180991008"/>
        <c:crosses val="autoZero"/>
        <c:auto val="1"/>
        <c:lblAlgn val="ctr"/>
        <c:lblOffset val="100"/>
        <c:noMultiLvlLbl val="0"/>
      </c:catAx>
      <c:valAx>
        <c:axId val="11809910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78995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3.1016296626459036E-2"/>
          <c:y val="0.80302679791958198"/>
          <c:w val="0.93078325406315554"/>
          <c:h val="8.054969116958332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anit" panose="00000500000000000000" pitchFamily="2" charset="-34"/>
              <a:ea typeface="+mn-ea"/>
              <a:cs typeface="Kanit" panose="00000500000000000000" pitchFamily="2" charset="-34"/>
            </a:defRPr>
          </a:pPr>
          <a:endParaRPr lang="th-TH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th-TH"/>
    </a:p>
  </c:txPr>
  <c:externalData r:id="rId5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h-TH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[ข้อมูลการจองห้องประชุม17.11.20.xlsx]Sheet3!PivotTable1</c:name>
    <c:fmtId val="10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th-TH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th-TH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th-TH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th-TH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th-TH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35072289092057352"/>
          <c:y val="7.3346458685362603E-2"/>
          <c:w val="0.32270661914055282"/>
          <c:h val="0.4285341326049793"/>
        </c:manualLayout>
      </c:layout>
      <c:pieChart>
        <c:varyColors val="1"/>
        <c:ser>
          <c:idx val="0"/>
          <c:order val="0"/>
          <c:tx>
            <c:strRef>
              <c:f>Sheet3!$B$3:$B$5</c:f>
              <c:strCache>
                <c:ptCount val="1"/>
                <c:pt idx="0">
                  <c:v>ห้องประชุม 1 - Sum of จำนวนผู้เข้าร่วมประชุม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417-4C5B-BCB2-499C5BB2FB64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417-4C5B-BCB2-499C5BB2FB64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417-4C5B-BCB2-499C5BB2FB64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417-4C5B-BCB2-499C5BB2FB64}"/>
              </c:ext>
            </c:extLst>
          </c:dPt>
          <c:dPt>
            <c:idx val="4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417-4C5B-BCB2-499C5BB2FB64}"/>
              </c:ext>
            </c:extLst>
          </c:dPt>
          <c:dPt>
            <c:idx val="5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3417-4C5B-BCB2-499C5BB2FB64}"/>
              </c:ext>
            </c:extLst>
          </c:dPt>
          <c:dPt>
            <c:idx val="6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3417-4C5B-BCB2-499C5BB2FB64}"/>
              </c:ext>
            </c:extLst>
          </c:dPt>
          <c:dPt>
            <c:idx val="7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3417-4C5B-BCB2-499C5BB2FB64}"/>
              </c:ext>
            </c:extLst>
          </c:dPt>
          <c:cat>
            <c:strRef>
              <c:f>Sheet3!$A$6:$A$14</c:f>
              <c:strCache>
                <c:ptCount val="8"/>
                <c:pt idx="0">
                  <c:v>กลุ่มงานบริหารกองทุนประกันสุขภาพคนต่างด้าวและแรงงานต่างด้าว</c:v>
                </c:pt>
                <c:pt idx="1">
                  <c:v>กลุ่มงานบริหารกองทุนประกันสุขภาพบุคคลที่มีปัญหาสถานะและสิทธิ</c:v>
                </c:pt>
                <c:pt idx="2">
                  <c:v>กลุ่มงานพัฒนาการจัดสรรทรัพยากรด้านเศรษฐกิจสุขภาพและหลักประกันสุขภาพ</c:v>
                </c:pt>
                <c:pt idx="3">
                  <c:v>กลุ่มงานพัฒนานโยบายและยุทธศาสตร์เศรษฐกิจสุขภาพและหลักประกันสุขภาพ</c:v>
                </c:pt>
                <c:pt idx="4">
                  <c:v>กลุ่มงานพัฒนาระบบบัญชีบริหาร</c:v>
                </c:pt>
                <c:pt idx="5">
                  <c:v>กลุ่มงานพัฒนาหลักประกันสุขภาพ</c:v>
                </c:pt>
                <c:pt idx="6">
                  <c:v>กลุ่มงานสารสนเทศและพัฒนาองค์กร</c:v>
                </c:pt>
                <c:pt idx="7">
                  <c:v>กลุ่มภารกิจอำนวยการ</c:v>
                </c:pt>
              </c:strCache>
            </c:strRef>
          </c:cat>
          <c:val>
            <c:numRef>
              <c:f>Sheet3!$B$6:$B$14</c:f>
              <c:numCache>
                <c:formatCode>General</c:formatCode>
                <c:ptCount val="8"/>
                <c:pt idx="0">
                  <c:v>314</c:v>
                </c:pt>
                <c:pt idx="1">
                  <c:v>110</c:v>
                </c:pt>
                <c:pt idx="2">
                  <c:v>576</c:v>
                </c:pt>
                <c:pt idx="3">
                  <c:v>30</c:v>
                </c:pt>
                <c:pt idx="4">
                  <c:v>170</c:v>
                </c:pt>
                <c:pt idx="5">
                  <c:v>560</c:v>
                </c:pt>
                <c:pt idx="6">
                  <c:v>13</c:v>
                </c:pt>
                <c:pt idx="7">
                  <c:v>421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417-4C5B-BCB2-499C5BB2FB64}"/>
            </c:ext>
          </c:extLst>
        </c:ser>
        <c:ser>
          <c:idx val="1"/>
          <c:order val="1"/>
          <c:tx>
            <c:strRef>
              <c:f>Sheet3!$C$3:$C$5</c:f>
              <c:strCache>
                <c:ptCount val="1"/>
                <c:pt idx="0">
                  <c:v>ห้องประชุม 1 - Count of ชื่อประชุม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9944-4F06-B313-DFA7071F1E15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9944-4F06-B313-DFA7071F1E15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9944-4F06-B313-DFA7071F1E15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9944-4F06-B313-DFA7071F1E15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9944-4F06-B313-DFA7071F1E15}"/>
              </c:ext>
            </c:extLst>
          </c:dPt>
          <c:dPt>
            <c:idx val="5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9944-4F06-B313-DFA7071F1E15}"/>
              </c:ext>
            </c:extLst>
          </c:dPt>
          <c:dPt>
            <c:idx val="6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9944-4F06-B313-DFA7071F1E15}"/>
              </c:ext>
            </c:extLst>
          </c:dPt>
          <c:dPt>
            <c:idx val="7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9944-4F06-B313-DFA7071F1E15}"/>
              </c:ext>
            </c:extLst>
          </c:dPt>
          <c:cat>
            <c:strRef>
              <c:f>Sheet3!$A$6:$A$14</c:f>
              <c:strCache>
                <c:ptCount val="8"/>
                <c:pt idx="0">
                  <c:v>กลุ่มงานบริหารกองทุนประกันสุขภาพคนต่างด้าวและแรงงานต่างด้าว</c:v>
                </c:pt>
                <c:pt idx="1">
                  <c:v>กลุ่มงานบริหารกองทุนประกันสุขภาพบุคคลที่มีปัญหาสถานะและสิทธิ</c:v>
                </c:pt>
                <c:pt idx="2">
                  <c:v>กลุ่มงานพัฒนาการจัดสรรทรัพยากรด้านเศรษฐกิจสุขภาพและหลักประกันสุขภาพ</c:v>
                </c:pt>
                <c:pt idx="3">
                  <c:v>กลุ่มงานพัฒนานโยบายและยุทธศาสตร์เศรษฐกิจสุขภาพและหลักประกันสุขภาพ</c:v>
                </c:pt>
                <c:pt idx="4">
                  <c:v>กลุ่มงานพัฒนาระบบบัญชีบริหาร</c:v>
                </c:pt>
                <c:pt idx="5">
                  <c:v>กลุ่มงานพัฒนาหลักประกันสุขภาพ</c:v>
                </c:pt>
                <c:pt idx="6">
                  <c:v>กลุ่มงานสารสนเทศและพัฒนาองค์กร</c:v>
                </c:pt>
                <c:pt idx="7">
                  <c:v>กลุ่มภารกิจอำนวยการ</c:v>
                </c:pt>
              </c:strCache>
            </c:strRef>
          </c:cat>
          <c:val>
            <c:numRef>
              <c:f>Sheet3!$C$6:$C$14</c:f>
              <c:numCache>
                <c:formatCode>General</c:formatCode>
                <c:ptCount val="8"/>
                <c:pt idx="0">
                  <c:v>12</c:v>
                </c:pt>
                <c:pt idx="1">
                  <c:v>6</c:v>
                </c:pt>
                <c:pt idx="2">
                  <c:v>38</c:v>
                </c:pt>
                <c:pt idx="3">
                  <c:v>2</c:v>
                </c:pt>
                <c:pt idx="4">
                  <c:v>10</c:v>
                </c:pt>
                <c:pt idx="5">
                  <c:v>31</c:v>
                </c:pt>
                <c:pt idx="6">
                  <c:v>1</c:v>
                </c:pt>
                <c:pt idx="7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3417-4C5B-BCB2-499C5BB2FB64}"/>
            </c:ext>
          </c:extLst>
        </c:ser>
        <c:ser>
          <c:idx val="2"/>
          <c:order val="2"/>
          <c:tx>
            <c:strRef>
              <c:f>Sheet3!$D$3:$D$5</c:f>
              <c:strCache>
                <c:ptCount val="1"/>
                <c:pt idx="0">
                  <c:v>ห้องประชุม 2 - Sum of จำนวนผู้เข้าร่วมประชุม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9944-4F06-B313-DFA7071F1E15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9944-4F06-B313-DFA7071F1E15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9944-4F06-B313-DFA7071F1E15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9944-4F06-B313-DFA7071F1E15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9944-4F06-B313-DFA7071F1E15}"/>
              </c:ext>
            </c:extLst>
          </c:dPt>
          <c:dPt>
            <c:idx val="5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9944-4F06-B313-DFA7071F1E15}"/>
              </c:ext>
            </c:extLst>
          </c:dPt>
          <c:dPt>
            <c:idx val="6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9944-4F06-B313-DFA7071F1E15}"/>
              </c:ext>
            </c:extLst>
          </c:dPt>
          <c:dPt>
            <c:idx val="7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9944-4F06-B313-DFA7071F1E15}"/>
              </c:ext>
            </c:extLst>
          </c:dPt>
          <c:cat>
            <c:strRef>
              <c:f>Sheet3!$A$6:$A$14</c:f>
              <c:strCache>
                <c:ptCount val="8"/>
                <c:pt idx="0">
                  <c:v>กลุ่มงานบริหารกองทุนประกันสุขภาพคนต่างด้าวและแรงงานต่างด้าว</c:v>
                </c:pt>
                <c:pt idx="1">
                  <c:v>กลุ่มงานบริหารกองทุนประกันสุขภาพบุคคลที่มีปัญหาสถานะและสิทธิ</c:v>
                </c:pt>
                <c:pt idx="2">
                  <c:v>กลุ่มงานพัฒนาการจัดสรรทรัพยากรด้านเศรษฐกิจสุขภาพและหลักประกันสุขภาพ</c:v>
                </c:pt>
                <c:pt idx="3">
                  <c:v>กลุ่มงานพัฒนานโยบายและยุทธศาสตร์เศรษฐกิจสุขภาพและหลักประกันสุขภาพ</c:v>
                </c:pt>
                <c:pt idx="4">
                  <c:v>กลุ่มงานพัฒนาระบบบัญชีบริหาร</c:v>
                </c:pt>
                <c:pt idx="5">
                  <c:v>กลุ่มงานพัฒนาหลักประกันสุขภาพ</c:v>
                </c:pt>
                <c:pt idx="6">
                  <c:v>กลุ่มงานสารสนเทศและพัฒนาองค์กร</c:v>
                </c:pt>
                <c:pt idx="7">
                  <c:v>กลุ่มภารกิจอำนวยการ</c:v>
                </c:pt>
              </c:strCache>
            </c:strRef>
          </c:cat>
          <c:val>
            <c:numRef>
              <c:f>Sheet3!$D$6:$D$14</c:f>
              <c:numCache>
                <c:formatCode>General</c:formatCode>
                <c:ptCount val="8"/>
                <c:pt idx="0">
                  <c:v>35</c:v>
                </c:pt>
                <c:pt idx="1">
                  <c:v>26</c:v>
                </c:pt>
                <c:pt idx="2">
                  <c:v>147</c:v>
                </c:pt>
                <c:pt idx="4">
                  <c:v>70</c:v>
                </c:pt>
                <c:pt idx="5">
                  <c:v>160</c:v>
                </c:pt>
                <c:pt idx="6">
                  <c:v>10</c:v>
                </c:pt>
                <c:pt idx="7">
                  <c:v>177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3417-4C5B-BCB2-499C5BB2FB64}"/>
            </c:ext>
          </c:extLst>
        </c:ser>
        <c:ser>
          <c:idx val="3"/>
          <c:order val="3"/>
          <c:tx>
            <c:strRef>
              <c:f>Sheet3!$E$3:$E$5</c:f>
              <c:strCache>
                <c:ptCount val="1"/>
                <c:pt idx="0">
                  <c:v>ห้องประชุม 2 - Count of ชื่อประชุม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9944-4F06-B313-DFA7071F1E15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9944-4F06-B313-DFA7071F1E15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9944-4F06-B313-DFA7071F1E15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9944-4F06-B313-DFA7071F1E15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9944-4F06-B313-DFA7071F1E15}"/>
              </c:ext>
            </c:extLst>
          </c:dPt>
          <c:dPt>
            <c:idx val="5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9944-4F06-B313-DFA7071F1E15}"/>
              </c:ext>
            </c:extLst>
          </c:dPt>
          <c:dPt>
            <c:idx val="6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D-9944-4F06-B313-DFA7071F1E15}"/>
              </c:ext>
            </c:extLst>
          </c:dPt>
          <c:dPt>
            <c:idx val="7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F-9944-4F06-B313-DFA7071F1E15}"/>
              </c:ext>
            </c:extLst>
          </c:dPt>
          <c:cat>
            <c:strRef>
              <c:f>Sheet3!$A$6:$A$14</c:f>
              <c:strCache>
                <c:ptCount val="8"/>
                <c:pt idx="0">
                  <c:v>กลุ่มงานบริหารกองทุนประกันสุขภาพคนต่างด้าวและแรงงานต่างด้าว</c:v>
                </c:pt>
                <c:pt idx="1">
                  <c:v>กลุ่มงานบริหารกองทุนประกันสุขภาพบุคคลที่มีปัญหาสถานะและสิทธิ</c:v>
                </c:pt>
                <c:pt idx="2">
                  <c:v>กลุ่มงานพัฒนาการจัดสรรทรัพยากรด้านเศรษฐกิจสุขภาพและหลักประกันสุขภาพ</c:v>
                </c:pt>
                <c:pt idx="3">
                  <c:v>กลุ่มงานพัฒนานโยบายและยุทธศาสตร์เศรษฐกิจสุขภาพและหลักประกันสุขภาพ</c:v>
                </c:pt>
                <c:pt idx="4">
                  <c:v>กลุ่มงานพัฒนาระบบบัญชีบริหาร</c:v>
                </c:pt>
                <c:pt idx="5">
                  <c:v>กลุ่มงานพัฒนาหลักประกันสุขภาพ</c:v>
                </c:pt>
                <c:pt idx="6">
                  <c:v>กลุ่มงานสารสนเทศและพัฒนาองค์กร</c:v>
                </c:pt>
                <c:pt idx="7">
                  <c:v>กลุ่มภารกิจอำนวยการ</c:v>
                </c:pt>
              </c:strCache>
            </c:strRef>
          </c:cat>
          <c:val>
            <c:numRef>
              <c:f>Sheet3!$E$6:$E$14</c:f>
              <c:numCache>
                <c:formatCode>General</c:formatCode>
                <c:ptCount val="8"/>
                <c:pt idx="0">
                  <c:v>2</c:v>
                </c:pt>
                <c:pt idx="1">
                  <c:v>3</c:v>
                </c:pt>
                <c:pt idx="2">
                  <c:v>36</c:v>
                </c:pt>
                <c:pt idx="4">
                  <c:v>4</c:v>
                </c:pt>
                <c:pt idx="5">
                  <c:v>24</c:v>
                </c:pt>
                <c:pt idx="6">
                  <c:v>2</c:v>
                </c:pt>
                <c:pt idx="7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3417-4C5B-BCB2-499C5BB2F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6.9853458641759916E-2"/>
          <c:y val="0.56278255823888346"/>
          <c:w val="0.85653301192938558"/>
          <c:h val="0.3817074104698325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dk1"/>
              </a:solidFill>
              <a:latin typeface="Kanit Light" panose="00000400000000000000" pitchFamily="2" charset="-34"/>
              <a:ea typeface="+mn-ea"/>
              <a:cs typeface="Kanit Light" panose="00000400000000000000" pitchFamily="2" charset="-34"/>
            </a:defRPr>
          </a:pPr>
          <a:endParaRPr lang="th-TH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th-TH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65552F-9A28-4518-B637-D4C04A0AEB30}" type="datetimeFigureOut">
              <a:rPr lang="th-TH" smtClean="0"/>
              <a:t>03/12/68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5FD4C8-FD72-401E-B0BE-224DFB3B01E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14300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B5894-5C58-4137-856C-BC3DA1E1B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EBB189-D0A6-4123-BDF0-909A06E67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AC74E-BA33-4892-AD54-F4427AE32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A3E58-9C22-44A6-B7A9-BBB70C58449A}" type="datetime1">
              <a:rPr lang="th-TH" smtClean="0"/>
              <a:t>03/12/68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4E07B-4472-43C3-8C35-D40D7966D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86DD9-1876-4D16-9616-A9503AB5D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205B-1FA0-43F3-BFD8-30ECDC23A0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02931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31D99-81FB-402F-B676-C3E37DB3C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417DD-4981-495A-9963-85F8EA18C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5A6EB-F54B-419F-9016-D0A66A15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13FF3-EB97-4810-A33F-98940EFABC48}" type="datetime1">
              <a:rPr lang="th-TH" smtClean="0"/>
              <a:t>03/12/68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E55FD-750E-4080-BDB1-12F12CD03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55C8B-81CF-4A27-BCE7-E3D9AA2B4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205B-1FA0-43F3-BFD8-30ECDC23A0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5739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4BD10-0175-4CD1-8530-4A42CE3FE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88882-A540-4577-99EF-E66BAAF82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D45BF-7608-4258-ACED-5EB59B244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6D76-7BAE-472C-AA8D-1FC5A2F7587E}" type="datetime1">
              <a:rPr lang="th-TH" smtClean="0"/>
              <a:t>03/12/68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AD2C9-15E7-48EE-A930-82A6AAFF8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E0D98-C812-4BC6-9DBA-78AFDDA41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205B-1FA0-43F3-BFD8-30ECDC23A0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6617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15C70-24FF-45E3-BB56-8F3648EA8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88996-ACA3-493B-950E-63AACF7316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7FF0C-47C3-4D38-B576-43A415154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58E0D-A59D-40FC-88B6-111A3D461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0E886-11BB-4925-93FD-85861832F9F1}" type="datetime1">
              <a:rPr lang="th-TH" smtClean="0"/>
              <a:t>03/12/68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C7309-7063-4CE1-872A-52C676BAF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B32B7-ACC6-4AD9-A7DD-1C37D716E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205B-1FA0-43F3-BFD8-30ECDC23A0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10209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AB0FF-9197-46FC-AE87-55C8A81EE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CACBC-8081-4ADB-B3AD-54DFB89D1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3DF5B2-73DD-4746-BCD8-0B9EA9136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F75C18-A5FC-4F62-AF8B-FF51DEC0C1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FFCAB2-99EB-4F14-A165-70A528D0E4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B4577E-F624-487A-94C4-32E8F4070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335D-B9DD-48BD-92C9-34433D6768C4}" type="datetime1">
              <a:rPr lang="th-TH" smtClean="0"/>
              <a:t>03/12/68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1C7E88-DF7F-48B7-BF43-B9EB151E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761053-5B1C-4D82-BCE2-A3B927B79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205B-1FA0-43F3-BFD8-30ECDC23A0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28357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062F7-83D1-431D-AE25-26C05AB16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9F272B-CCD2-4DD2-8EA4-9832230FC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9746F-3AB5-4DAE-A500-10546BD5E758}" type="datetime1">
              <a:rPr lang="th-TH" smtClean="0"/>
              <a:t>03/12/68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E4A6BD-229B-4ECB-9561-8F8A4DF6E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1F397E-4AB7-4D93-95E8-067CC8AEB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205B-1FA0-43F3-BFD8-30ECDC23A0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3621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CB86DA-47CE-4661-8FE1-80738B7D4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CA04-97C2-48A0-85B2-C825030E1929}" type="datetime1">
              <a:rPr lang="th-TH" smtClean="0"/>
              <a:t>03/12/68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5709F-3311-43BE-90C6-34C1A0B4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7EF5E-F858-4ED8-B6DD-425C8FB60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205B-1FA0-43F3-BFD8-30ECDC23A0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77638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1223D-C5F6-434C-9171-C530EB030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A81CA-06FA-4D12-A57D-9D1F45E69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1A81-2605-4511-ABF6-A8BE724B7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F4FA0-5A09-41A5-B28F-50B668A5C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DD131-612F-4241-BEB6-AD49656E65AD}" type="datetime1">
              <a:rPr lang="th-TH" smtClean="0"/>
              <a:t>03/12/68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62904A-DA41-4467-B6BA-1C488C8CE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51F12-BE83-41D0-81FF-371846DEB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205B-1FA0-43F3-BFD8-30ECDC23A0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65987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0D2B1-08D5-48D3-B22F-E5AC3DB29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C4F61E-9621-4BD7-A708-6A97FEDBBE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CC8D2E-2D41-420A-AD43-E862F610B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D029D-E20B-43F1-A7D1-F22E5352A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4A608-5C24-4065-9EAA-0A4E8DCE35F5}" type="datetime1">
              <a:rPr lang="th-TH" smtClean="0"/>
              <a:t>03/12/68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1238A-DA57-4AD0-9454-94B784A07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70F03-3602-4617-A9D4-2BE2FFEB1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205B-1FA0-43F3-BFD8-30ECDC23A0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45361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C3543-1BEB-40D8-AA7A-26BC00D1F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A57A45-E66A-46F7-ABDD-D0ECFE305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B450B-8F00-4446-AEE8-730481253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272E2-9E61-4AC0-924C-B00434495F95}" type="datetime1">
              <a:rPr lang="th-TH" smtClean="0"/>
              <a:t>03/12/68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9C68B-54E3-4D02-8D44-86F5E8BBC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04E93-ECB9-43B1-8D16-E5269CAC9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205B-1FA0-43F3-BFD8-30ECDC23A0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28353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80E978-4524-42E1-ACCD-73790BC6AB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7B8ADA-540A-4DBD-B624-437861FB7D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A8504-53EB-47C1-9DB0-71F3C655C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AA45C-47D6-46FB-BF09-4951480F2996}" type="datetime1">
              <a:rPr lang="th-TH" smtClean="0"/>
              <a:t>03/12/68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0B2CB-C7D4-4749-85C9-F6836C1D3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C82BF-134A-48FE-B9B9-F17E8637E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205B-1FA0-43F3-BFD8-30ECDC23A0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7854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7A04F5-DF34-461B-9879-0E864F16F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9E927-1137-4A89-972F-731994E09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465D1-8F41-4EA3-BF86-4049A3BC17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07F93-51CC-4031-A6CB-78FDC084ED8F}" type="datetime1">
              <a:rPr lang="th-TH" smtClean="0"/>
              <a:t>03/12/68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F7AC6-E45C-4F52-B9B1-AD881B915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D488E-ECDE-4E88-919C-539400BA1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B205B-1FA0-43F3-BFD8-30ECDC23A0C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90492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3B3C73F-4221-4848-BED7-BA33F93A6E00}"/>
              </a:ext>
            </a:extLst>
          </p:cNvPr>
          <p:cNvSpPr/>
          <p:nvPr/>
        </p:nvSpPr>
        <p:spPr>
          <a:xfrm>
            <a:off x="-16388" y="-9832"/>
            <a:ext cx="12208387" cy="687766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" fmla="*/ 947651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9476510 w 12192000"/>
              <a:gd name="connsiteY4" fmla="*/ 0 h 6858000"/>
              <a:gd name="connsiteX0" fmla="*/ 4193310 w 6908800"/>
              <a:gd name="connsiteY0" fmla="*/ 0 h 6858000"/>
              <a:gd name="connsiteX1" fmla="*/ 6908800 w 6908800"/>
              <a:gd name="connsiteY1" fmla="*/ 0 h 6858000"/>
              <a:gd name="connsiteX2" fmla="*/ 6908800 w 6908800"/>
              <a:gd name="connsiteY2" fmla="*/ 6858000 h 6858000"/>
              <a:gd name="connsiteX3" fmla="*/ 0 w 6908800"/>
              <a:gd name="connsiteY3" fmla="*/ 6858000 h 6858000"/>
              <a:gd name="connsiteX4" fmla="*/ 4193310 w 6908800"/>
              <a:gd name="connsiteY4" fmla="*/ 0 h 6858000"/>
              <a:gd name="connsiteX0" fmla="*/ 9492897 w 12208387"/>
              <a:gd name="connsiteY0" fmla="*/ 0 h 6867832"/>
              <a:gd name="connsiteX1" fmla="*/ 12208387 w 12208387"/>
              <a:gd name="connsiteY1" fmla="*/ 0 h 6867832"/>
              <a:gd name="connsiteX2" fmla="*/ 12208387 w 12208387"/>
              <a:gd name="connsiteY2" fmla="*/ 6858000 h 6867832"/>
              <a:gd name="connsiteX3" fmla="*/ 0 w 12208387"/>
              <a:gd name="connsiteY3" fmla="*/ 6867832 h 6867832"/>
              <a:gd name="connsiteX4" fmla="*/ 9492897 w 12208387"/>
              <a:gd name="connsiteY4" fmla="*/ 0 h 6867832"/>
              <a:gd name="connsiteX0" fmla="*/ 12167271 w 12208387"/>
              <a:gd name="connsiteY0" fmla="*/ 0 h 6877664"/>
              <a:gd name="connsiteX1" fmla="*/ 12208387 w 12208387"/>
              <a:gd name="connsiteY1" fmla="*/ 9832 h 6877664"/>
              <a:gd name="connsiteX2" fmla="*/ 12208387 w 12208387"/>
              <a:gd name="connsiteY2" fmla="*/ 6867832 h 6877664"/>
              <a:gd name="connsiteX3" fmla="*/ 0 w 12208387"/>
              <a:gd name="connsiteY3" fmla="*/ 6877664 h 6877664"/>
              <a:gd name="connsiteX4" fmla="*/ 12167271 w 12208387"/>
              <a:gd name="connsiteY4" fmla="*/ 0 h 6877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08387" h="6877664">
                <a:moveTo>
                  <a:pt x="12167271" y="0"/>
                </a:moveTo>
                <a:lnTo>
                  <a:pt x="12208387" y="9832"/>
                </a:lnTo>
                <a:lnTo>
                  <a:pt x="12208387" y="6867832"/>
                </a:lnTo>
                <a:lnTo>
                  <a:pt x="0" y="6877664"/>
                </a:lnTo>
                <a:lnTo>
                  <a:pt x="121672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1B01F3-4994-41B9-9D5C-4491FB110105}"/>
              </a:ext>
            </a:extLst>
          </p:cNvPr>
          <p:cNvSpPr txBox="1"/>
          <p:nvPr/>
        </p:nvSpPr>
        <p:spPr>
          <a:xfrm>
            <a:off x="2428574" y="2716161"/>
            <a:ext cx="6979796" cy="1015663"/>
          </a:xfrm>
          <a:prstGeom prst="rect">
            <a:avLst/>
          </a:prstGeom>
          <a:noFill/>
          <a:effectLst>
            <a:outerShdw blurRad="254000" dist="584200" dir="240000" sx="46000" sy="46000" algn="tl" rotWithShape="0">
              <a:prstClr val="black">
                <a:alpha val="85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th-TH" sz="6000" dirty="0">
                <a:solidFill>
                  <a:schemeClr val="accent3">
                    <a:lumMod val="25000"/>
                  </a:schemeClr>
                </a:solidFill>
                <a:latin typeface="Kanit" panose="00000500000000000000" pitchFamily="2" charset="-34"/>
                <a:cs typeface="Kanit" panose="00000500000000000000" pitchFamily="2" charset="-34"/>
              </a:rPr>
              <a:t>หัวข้อเรื่อง/การประชุม</a:t>
            </a:r>
          </a:p>
        </p:txBody>
      </p:sp>
      <p:sp>
        <p:nvSpPr>
          <p:cNvPr id="3" name="L-Shape 2">
            <a:extLst>
              <a:ext uri="{FF2B5EF4-FFF2-40B4-BE49-F238E27FC236}">
                <a16:creationId xmlns:a16="http://schemas.microsoft.com/office/drawing/2014/main" id="{03261BB1-2322-40AC-BCD2-2C76D48E201B}"/>
              </a:ext>
            </a:extLst>
          </p:cNvPr>
          <p:cNvSpPr/>
          <p:nvPr/>
        </p:nvSpPr>
        <p:spPr>
          <a:xfrm flipV="1">
            <a:off x="1775019" y="2278626"/>
            <a:ext cx="1811571" cy="1150374"/>
          </a:xfrm>
          <a:prstGeom prst="corner">
            <a:avLst>
              <a:gd name="adj1" fmla="val 7265"/>
              <a:gd name="adj2" fmla="val 726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tx1"/>
              </a:solidFill>
            </a:endParaRPr>
          </a:p>
        </p:txBody>
      </p:sp>
      <p:sp>
        <p:nvSpPr>
          <p:cNvPr id="7" name="L-Shape 6">
            <a:extLst>
              <a:ext uri="{FF2B5EF4-FFF2-40B4-BE49-F238E27FC236}">
                <a16:creationId xmlns:a16="http://schemas.microsoft.com/office/drawing/2014/main" id="{900E75E8-634B-417F-86E8-EF0544A23BF6}"/>
              </a:ext>
            </a:extLst>
          </p:cNvPr>
          <p:cNvSpPr/>
          <p:nvPr/>
        </p:nvSpPr>
        <p:spPr>
          <a:xfrm flipH="1">
            <a:off x="8709195" y="2853813"/>
            <a:ext cx="1458164" cy="1150374"/>
          </a:xfrm>
          <a:prstGeom prst="corner">
            <a:avLst>
              <a:gd name="adj1" fmla="val 7265"/>
              <a:gd name="adj2" fmla="val 726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9F6F6D-0AC4-4C27-B06E-042B1AD6E539}"/>
              </a:ext>
            </a:extLst>
          </p:cNvPr>
          <p:cNvSpPr txBox="1"/>
          <p:nvPr/>
        </p:nvSpPr>
        <p:spPr>
          <a:xfrm>
            <a:off x="5926667" y="4141839"/>
            <a:ext cx="42947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600" dirty="0">
                <a:latin typeface="Kanit Light" panose="00000400000000000000" pitchFamily="2" charset="-34"/>
                <a:cs typeface="Kanit Light" panose="00000400000000000000" pitchFamily="2" charset="-34"/>
              </a:rPr>
              <a:t>ณ ห้องประชุม สำนักงานปลัดกระทรวงสาธารณสุข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FB2A60-C1E6-4180-975B-E8B7FB6E1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700"/>
            <a:ext cx="4487334" cy="94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337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B8E3E-041B-4926-B760-608D97414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205B-1FA0-43F3-BFD8-30ECDC23A0C0}" type="slidenum">
              <a:rPr lang="th-TH" smtClean="0"/>
              <a:t>2</a:t>
            </a:fld>
            <a:endParaRPr lang="th-TH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C46FC169-6CB6-4EC5-832A-C38270BBAF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2069325"/>
              </p:ext>
            </p:extLst>
          </p:nvPr>
        </p:nvGraphicFramePr>
        <p:xfrm>
          <a:off x="379742" y="1568596"/>
          <a:ext cx="4487125" cy="49881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090FE340-6EC9-42EB-9F0C-622866790EFB}"/>
              </a:ext>
            </a:extLst>
          </p:cNvPr>
          <p:cNvSpPr txBox="1">
            <a:spLocks/>
          </p:cNvSpPr>
          <p:nvPr/>
        </p:nvSpPr>
        <p:spPr>
          <a:xfrm>
            <a:off x="4975761" y="6374163"/>
            <a:ext cx="70905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th-T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1600" dirty="0">
                <a:latin typeface="Kanit Light" panose="00000400000000000000" pitchFamily="2" charset="-34"/>
                <a:cs typeface="Kanit Light" panose="00000400000000000000" pitchFamily="2" charset="-34"/>
              </a:rPr>
              <a:t>กองเศรษฐกิจสุขภาพและหลักประกันสุขภาพ สำนักงานปลัดกระทรวงสาธารณสุข |  </a:t>
            </a:r>
            <a:fld id="{9BCB205B-1FA0-43F3-BFD8-30ECDC23A0C0}" type="slidenum">
              <a:rPr lang="th-TH" sz="1600" b="1" smtClean="0">
                <a:solidFill>
                  <a:schemeClr val="accent1"/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pPr/>
              <a:t>2</a:t>
            </a:fld>
            <a:endParaRPr lang="th-TH" sz="1600" b="1" dirty="0">
              <a:solidFill>
                <a:schemeClr val="accent1"/>
              </a:solidFill>
              <a:latin typeface="Kanit Light" panose="00000400000000000000" pitchFamily="2" charset="-34"/>
              <a:cs typeface="Kanit Light" panose="00000400000000000000" pitchFamily="2" charset="-3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9760BC-EABE-4EFF-B37F-F9BC27855711}"/>
              </a:ext>
            </a:extLst>
          </p:cNvPr>
          <p:cNvSpPr txBox="1"/>
          <p:nvPr/>
        </p:nvSpPr>
        <p:spPr>
          <a:xfrm>
            <a:off x="517793" y="377722"/>
            <a:ext cx="4487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>
                <a:solidFill>
                  <a:schemeClr val="tx1">
                    <a:lumMod val="65000"/>
                    <a:lumOff val="35000"/>
                  </a:schemeClr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ตัวอย่างการนำเสนอแบบกราฟ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C07A4EA-399D-4DDB-AB0E-0E5E5E39159E}"/>
              </a:ext>
            </a:extLst>
          </p:cNvPr>
          <p:cNvCxnSpPr>
            <a:cxnSpLocks/>
          </p:cNvCxnSpPr>
          <p:nvPr/>
        </p:nvCxnSpPr>
        <p:spPr>
          <a:xfrm>
            <a:off x="517793" y="900942"/>
            <a:ext cx="10972800" cy="0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A3B07BA-72F9-4BCC-8515-7EE87BB2B061}"/>
              </a:ext>
            </a:extLst>
          </p:cNvPr>
          <p:cNvSpPr txBox="1"/>
          <p:nvPr/>
        </p:nvSpPr>
        <p:spPr>
          <a:xfrm>
            <a:off x="3521509" y="1181389"/>
            <a:ext cx="42330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จำนวนคนโดยเฉลี่ยในการใช้ห้องประชุมต่อครั้ง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57806D9C-EA89-41C6-98B0-33D4B32965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58626"/>
              </p:ext>
            </p:extLst>
          </p:nvPr>
        </p:nvGraphicFramePr>
        <p:xfrm>
          <a:off x="4530706" y="1085334"/>
          <a:ext cx="7090558" cy="52621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49644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A0F5A-B28E-4BEB-9F63-6B092A075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205B-1FA0-43F3-BFD8-30ECDC23A0C0}" type="slidenum">
              <a:rPr lang="th-TH" smtClean="0"/>
              <a:t>3</a:t>
            </a:fld>
            <a:endParaRPr lang="th-TH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2A57979-F5E4-4DEC-8235-41FBD390ADED}"/>
              </a:ext>
            </a:extLst>
          </p:cNvPr>
          <p:cNvGrpSpPr/>
          <p:nvPr/>
        </p:nvGrpSpPr>
        <p:grpSpPr>
          <a:xfrm flipV="1">
            <a:off x="588963" y="3239395"/>
            <a:ext cx="10716109" cy="105111"/>
            <a:chOff x="-7391400" y="2159513"/>
            <a:chExt cx="19583400" cy="192088"/>
          </a:xfrm>
        </p:grpSpPr>
        <p:sp>
          <p:nvSpPr>
            <p:cNvPr id="5" name="Chevron 1">
              <a:extLst>
                <a:ext uri="{FF2B5EF4-FFF2-40B4-BE49-F238E27FC236}">
                  <a16:creationId xmlns:a16="http://schemas.microsoft.com/office/drawing/2014/main" id="{E0EC7C1C-D025-4BC9-B1A0-A64C68815ACF}"/>
                </a:ext>
              </a:extLst>
            </p:cNvPr>
            <p:cNvSpPr/>
            <p:nvPr/>
          </p:nvSpPr>
          <p:spPr>
            <a:xfrm>
              <a:off x="-4127500" y="2159513"/>
              <a:ext cx="3263900" cy="192088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43797" tIns="121899" rIns="243797" bIns="121899" anchor="ctr"/>
            <a:lstStyle/>
            <a:p>
              <a:pPr algn="ctr" defTabSz="1828434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Chevron 18">
              <a:extLst>
                <a:ext uri="{FF2B5EF4-FFF2-40B4-BE49-F238E27FC236}">
                  <a16:creationId xmlns:a16="http://schemas.microsoft.com/office/drawing/2014/main" id="{4590C5C7-8064-48D4-A172-7905FFEA8F72}"/>
                </a:ext>
              </a:extLst>
            </p:cNvPr>
            <p:cNvSpPr/>
            <p:nvPr/>
          </p:nvSpPr>
          <p:spPr>
            <a:xfrm>
              <a:off x="-863600" y="2159513"/>
              <a:ext cx="3263900" cy="192088"/>
            </a:xfrm>
            <a:prstGeom prst="chevron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43797" tIns="121899" rIns="243797" bIns="121899" anchor="ctr"/>
            <a:lstStyle/>
            <a:p>
              <a:pPr algn="ctr" defTabSz="1828434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Chevron 21">
              <a:extLst>
                <a:ext uri="{FF2B5EF4-FFF2-40B4-BE49-F238E27FC236}">
                  <a16:creationId xmlns:a16="http://schemas.microsoft.com/office/drawing/2014/main" id="{06A5BF1F-894C-47FC-B3AD-9363136CCE46}"/>
                </a:ext>
              </a:extLst>
            </p:cNvPr>
            <p:cNvSpPr/>
            <p:nvPr/>
          </p:nvSpPr>
          <p:spPr>
            <a:xfrm>
              <a:off x="2400300" y="2159513"/>
              <a:ext cx="3263900" cy="192088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43797" tIns="121899" rIns="243797" bIns="121899" anchor="ctr"/>
            <a:lstStyle/>
            <a:p>
              <a:pPr algn="ctr" defTabSz="1828434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Chevron 23">
              <a:extLst>
                <a:ext uri="{FF2B5EF4-FFF2-40B4-BE49-F238E27FC236}">
                  <a16:creationId xmlns:a16="http://schemas.microsoft.com/office/drawing/2014/main" id="{5B323BC4-26E0-4D71-86D5-CF573412F74F}"/>
                </a:ext>
              </a:extLst>
            </p:cNvPr>
            <p:cNvSpPr/>
            <p:nvPr/>
          </p:nvSpPr>
          <p:spPr>
            <a:xfrm>
              <a:off x="5664200" y="2159513"/>
              <a:ext cx="3263900" cy="192088"/>
            </a:xfrm>
            <a:prstGeom prst="chevron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43797" tIns="121899" rIns="243797" bIns="121899" anchor="ctr"/>
            <a:lstStyle/>
            <a:p>
              <a:pPr algn="ctr" defTabSz="1828434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Chevron 25">
              <a:extLst>
                <a:ext uri="{FF2B5EF4-FFF2-40B4-BE49-F238E27FC236}">
                  <a16:creationId xmlns:a16="http://schemas.microsoft.com/office/drawing/2014/main" id="{EF2D15BB-989B-46AA-A190-16E54D17B7CC}"/>
                </a:ext>
              </a:extLst>
            </p:cNvPr>
            <p:cNvSpPr/>
            <p:nvPr/>
          </p:nvSpPr>
          <p:spPr>
            <a:xfrm>
              <a:off x="8928100" y="2159513"/>
              <a:ext cx="3263900" cy="192088"/>
            </a:xfrm>
            <a:prstGeom prst="chevron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43797" tIns="121899" rIns="243797" bIns="121899" anchor="ctr"/>
            <a:lstStyle/>
            <a:p>
              <a:pPr algn="ctr" defTabSz="1828434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Chevron 27">
              <a:extLst>
                <a:ext uri="{FF2B5EF4-FFF2-40B4-BE49-F238E27FC236}">
                  <a16:creationId xmlns:a16="http://schemas.microsoft.com/office/drawing/2014/main" id="{9F65248A-0FB3-49CB-BCEC-EEC4E6C22278}"/>
                </a:ext>
              </a:extLst>
            </p:cNvPr>
            <p:cNvSpPr/>
            <p:nvPr/>
          </p:nvSpPr>
          <p:spPr>
            <a:xfrm>
              <a:off x="-7391400" y="2159513"/>
              <a:ext cx="3263900" cy="19208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43797" tIns="121899" rIns="243797" bIns="121899" anchor="ctr"/>
            <a:lstStyle/>
            <a:p>
              <a:pPr algn="ctr" defTabSz="1828434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846949-1BC8-4A89-9C62-7C98C8E204D0}"/>
              </a:ext>
            </a:extLst>
          </p:cNvPr>
          <p:cNvCxnSpPr/>
          <p:nvPr/>
        </p:nvCxnSpPr>
        <p:spPr>
          <a:xfrm flipV="1">
            <a:off x="-2651125" y="3059073"/>
            <a:ext cx="0" cy="858838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B98C1F9-6DD3-4F30-9E5E-1483D28E6425}"/>
              </a:ext>
            </a:extLst>
          </p:cNvPr>
          <p:cNvCxnSpPr>
            <a:cxnSpLocks/>
          </p:cNvCxnSpPr>
          <p:nvPr/>
        </p:nvCxnSpPr>
        <p:spPr>
          <a:xfrm flipV="1">
            <a:off x="1550256" y="3488493"/>
            <a:ext cx="0" cy="429418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2F7C9C7-B2BB-46ED-9901-6BBEC6A7C0CE}"/>
              </a:ext>
            </a:extLst>
          </p:cNvPr>
          <p:cNvSpPr txBox="1"/>
          <p:nvPr/>
        </p:nvSpPr>
        <p:spPr>
          <a:xfrm>
            <a:off x="1191824" y="3960065"/>
            <a:ext cx="7168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000" b="1" dirty="0">
                <a:solidFill>
                  <a:schemeClr val="accent2"/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2534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DC8481A-3592-40D5-8119-76406A68EBD6}"/>
              </a:ext>
            </a:extLst>
          </p:cNvPr>
          <p:cNvSpPr txBox="1"/>
          <p:nvPr/>
        </p:nvSpPr>
        <p:spPr>
          <a:xfrm>
            <a:off x="723509" y="4360175"/>
            <a:ext cx="17860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- บัตรสุขภาพ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GTZ </a:t>
            </a:r>
            <a:endParaRPr lang="th-TH" sz="1600" dirty="0">
              <a:solidFill>
                <a:schemeClr val="tx1">
                  <a:lumMod val="65000"/>
                  <a:lumOff val="35000"/>
                </a:schemeClr>
              </a:solidFill>
              <a:latin typeface="Kanit Light" panose="00000400000000000000" pitchFamily="2" charset="-34"/>
              <a:cs typeface="Kanit Light" panose="00000400000000000000" pitchFamily="2" charset="-34"/>
            </a:endParaRPr>
          </a:p>
          <a:p>
            <a:r>
              <a:rPr lang="th-TH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- บัตร </a:t>
            </a:r>
            <a:r>
              <a:rPr lang="th-TH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สปร</a:t>
            </a:r>
            <a:r>
              <a:rPr lang="th-TH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.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DD74561-DE45-408A-BF10-7992A19A209D}"/>
              </a:ext>
            </a:extLst>
          </p:cNvPr>
          <p:cNvCxnSpPr>
            <a:cxnSpLocks/>
          </p:cNvCxnSpPr>
          <p:nvPr/>
        </p:nvCxnSpPr>
        <p:spPr>
          <a:xfrm flipV="1">
            <a:off x="1550256" y="2732569"/>
            <a:ext cx="0" cy="326504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EE8C437F-BDD3-494A-914B-5B9508A6721D}"/>
              </a:ext>
            </a:extLst>
          </p:cNvPr>
          <p:cNvSpPr txBox="1"/>
          <p:nvPr/>
        </p:nvSpPr>
        <p:spPr>
          <a:xfrm>
            <a:off x="380038" y="1859418"/>
            <a:ext cx="24159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จัดตั้ง 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Kanit Light" panose="00000400000000000000" pitchFamily="2" charset="-34"/>
              <a:cs typeface="Kanit Light" panose="00000400000000000000" pitchFamily="2" charset="-34"/>
            </a:endParaRPr>
          </a:p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“</a:t>
            </a:r>
            <a:r>
              <a:rPr lang="th-TH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สำนักงานประกันสุขภาพ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”</a:t>
            </a:r>
            <a:r>
              <a:rPr lang="th-TH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 (ภายใน)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07ED5F5-2DA0-4EC6-9E3D-B988E5A377CB}"/>
              </a:ext>
            </a:extLst>
          </p:cNvPr>
          <p:cNvCxnSpPr>
            <a:cxnSpLocks/>
          </p:cNvCxnSpPr>
          <p:nvPr/>
        </p:nvCxnSpPr>
        <p:spPr>
          <a:xfrm flipV="1">
            <a:off x="5130570" y="2732569"/>
            <a:ext cx="0" cy="326504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1A2FC659-4C5D-4389-B968-147BDB74890E}"/>
              </a:ext>
            </a:extLst>
          </p:cNvPr>
          <p:cNvSpPr txBox="1"/>
          <p:nvPr/>
        </p:nvSpPr>
        <p:spPr>
          <a:xfrm>
            <a:off x="4798262" y="2277806"/>
            <a:ext cx="7168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000" b="1" dirty="0">
                <a:solidFill>
                  <a:schemeClr val="accent2"/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2545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11BB5F-0F8D-4991-9925-7B9A627D3432}"/>
              </a:ext>
            </a:extLst>
          </p:cNvPr>
          <p:cNvSpPr txBox="1"/>
          <p:nvPr/>
        </p:nvSpPr>
        <p:spPr>
          <a:xfrm>
            <a:off x="4606744" y="1646092"/>
            <a:ext cx="10476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จัดตั้ง สปสช.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046A9AB-C01C-4493-A616-AEFF81586F76}"/>
              </a:ext>
            </a:extLst>
          </p:cNvPr>
          <p:cNvCxnSpPr>
            <a:cxnSpLocks/>
          </p:cNvCxnSpPr>
          <p:nvPr/>
        </p:nvCxnSpPr>
        <p:spPr>
          <a:xfrm flipV="1">
            <a:off x="3854665" y="3488493"/>
            <a:ext cx="0" cy="429418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AE6D780-A3C2-4FF3-B5AA-FA55059E9E3C}"/>
              </a:ext>
            </a:extLst>
          </p:cNvPr>
          <p:cNvSpPr txBox="1"/>
          <p:nvPr/>
        </p:nvSpPr>
        <p:spPr>
          <a:xfrm>
            <a:off x="3496233" y="3960065"/>
            <a:ext cx="724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000" b="1" dirty="0">
                <a:solidFill>
                  <a:schemeClr val="accent2"/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2544</a:t>
            </a:r>
          </a:p>
        </p:txBody>
      </p:sp>
      <p:sp>
        <p:nvSpPr>
          <p:cNvPr id="62" name="กล่องข้อความ 5">
            <a:extLst>
              <a:ext uri="{FF2B5EF4-FFF2-40B4-BE49-F238E27FC236}">
                <a16:creationId xmlns:a16="http://schemas.microsoft.com/office/drawing/2014/main" id="{59C8F6E7-0D84-40A0-AD44-4EAE31D1C2D6}"/>
              </a:ext>
            </a:extLst>
          </p:cNvPr>
          <p:cNvSpPr txBox="1"/>
          <p:nvPr/>
        </p:nvSpPr>
        <p:spPr>
          <a:xfrm>
            <a:off x="3287773" y="4360174"/>
            <a:ext cx="1133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Pilot ZIP 6 </a:t>
            </a:r>
            <a:r>
              <a:rPr lang="th-TH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จว.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802D2C6-7DFE-4135-887B-9BD6F99CFB35}"/>
              </a:ext>
            </a:extLst>
          </p:cNvPr>
          <p:cNvSpPr txBox="1"/>
          <p:nvPr/>
        </p:nvSpPr>
        <p:spPr>
          <a:xfrm>
            <a:off x="7051916" y="3978492"/>
            <a:ext cx="7312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000" b="1" dirty="0">
                <a:solidFill>
                  <a:schemeClr val="accent2"/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2546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71847BA-C305-4011-AB8E-305A94EDF852}"/>
              </a:ext>
            </a:extLst>
          </p:cNvPr>
          <p:cNvCxnSpPr>
            <a:cxnSpLocks/>
          </p:cNvCxnSpPr>
          <p:nvPr/>
        </p:nvCxnSpPr>
        <p:spPr>
          <a:xfrm flipV="1">
            <a:off x="7410323" y="3549074"/>
            <a:ext cx="0" cy="429418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9EC5121A-1E3E-4638-88D3-D5FEABA131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382"/>
          <a:stretch/>
        </p:blipFill>
        <p:spPr bwMode="auto">
          <a:xfrm>
            <a:off x="7036061" y="1625720"/>
            <a:ext cx="1219327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3CD4992-850A-4E7A-A450-71B868AFDF46}"/>
              </a:ext>
            </a:extLst>
          </p:cNvPr>
          <p:cNvCxnSpPr>
            <a:cxnSpLocks/>
          </p:cNvCxnSpPr>
          <p:nvPr/>
        </p:nvCxnSpPr>
        <p:spPr>
          <a:xfrm flipV="1">
            <a:off x="7410323" y="2696343"/>
            <a:ext cx="0" cy="298819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Slide Number Placeholder 7">
            <a:extLst>
              <a:ext uri="{FF2B5EF4-FFF2-40B4-BE49-F238E27FC236}">
                <a16:creationId xmlns:a16="http://schemas.microsoft.com/office/drawing/2014/main" id="{52D415A9-535E-4667-AD1B-1B9006EFAB5C}"/>
              </a:ext>
            </a:extLst>
          </p:cNvPr>
          <p:cNvSpPr txBox="1">
            <a:spLocks/>
          </p:cNvSpPr>
          <p:nvPr/>
        </p:nvSpPr>
        <p:spPr>
          <a:xfrm>
            <a:off x="4975761" y="6374163"/>
            <a:ext cx="70905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th-T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1600" dirty="0">
                <a:latin typeface="Kanit Light" panose="00000400000000000000" pitchFamily="2" charset="-34"/>
                <a:cs typeface="Kanit Light" panose="00000400000000000000" pitchFamily="2" charset="-34"/>
              </a:rPr>
              <a:t>กองเศรษฐกิจสุขภาพและหลักประกันสุขภาพ สำนักงานปลัดกระทรวงสาธารณสุข |  </a:t>
            </a:r>
            <a:fld id="{9BCB205B-1FA0-43F3-BFD8-30ECDC23A0C0}" type="slidenum">
              <a:rPr lang="th-TH" sz="1600" b="1" smtClean="0">
                <a:solidFill>
                  <a:schemeClr val="accent1"/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pPr/>
              <a:t>3</a:t>
            </a:fld>
            <a:endParaRPr lang="th-TH" sz="1600" b="1" dirty="0">
              <a:solidFill>
                <a:schemeClr val="accent1"/>
              </a:solidFill>
              <a:latin typeface="Kanit Light" panose="00000400000000000000" pitchFamily="2" charset="-34"/>
              <a:cs typeface="Kanit Light" panose="00000400000000000000" pitchFamily="2" charset="-34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18A414F-27D9-4387-91B8-07165B7A6708}"/>
              </a:ext>
            </a:extLst>
          </p:cNvPr>
          <p:cNvSpPr txBox="1"/>
          <p:nvPr/>
        </p:nvSpPr>
        <p:spPr>
          <a:xfrm>
            <a:off x="6237142" y="4358330"/>
            <a:ext cx="2360838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th-TH" sz="1600" b="1" dirty="0">
                <a:solidFill>
                  <a:schemeClr val="accent1"/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กลุ่มประกันสุขภาพ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56BAEB7-52E2-439C-87DD-4BE0C79BED52}"/>
              </a:ext>
            </a:extLst>
          </p:cNvPr>
          <p:cNvSpPr txBox="1"/>
          <p:nvPr/>
        </p:nvSpPr>
        <p:spPr>
          <a:xfrm>
            <a:off x="517793" y="377722"/>
            <a:ext cx="6045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>
                <a:solidFill>
                  <a:schemeClr val="tx1">
                    <a:lumMod val="65000"/>
                    <a:lumOff val="35000"/>
                  </a:schemeClr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ตัวอย่างการนำเสนอข้อมูลแบบ 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Timeline</a:t>
            </a:r>
            <a:endParaRPr lang="th-TH" dirty="0">
              <a:solidFill>
                <a:schemeClr val="tx1">
                  <a:lumMod val="65000"/>
                  <a:lumOff val="35000"/>
                </a:schemeClr>
              </a:solidFill>
              <a:latin typeface="Kanit Light" panose="00000400000000000000" pitchFamily="2" charset="-34"/>
              <a:cs typeface="Kanit Light" panose="00000400000000000000" pitchFamily="2" charset="-34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A3E4A72E-5020-44AD-99DE-74D3427B28BD}"/>
              </a:ext>
            </a:extLst>
          </p:cNvPr>
          <p:cNvCxnSpPr>
            <a:cxnSpLocks/>
          </p:cNvCxnSpPr>
          <p:nvPr/>
        </p:nvCxnSpPr>
        <p:spPr>
          <a:xfrm>
            <a:off x="517793" y="900942"/>
            <a:ext cx="10972800" cy="0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6435D80-50CC-4A6D-84D1-B56E492F8963}"/>
              </a:ext>
            </a:extLst>
          </p:cNvPr>
          <p:cNvCxnSpPr>
            <a:cxnSpLocks/>
          </p:cNvCxnSpPr>
          <p:nvPr/>
        </p:nvCxnSpPr>
        <p:spPr>
          <a:xfrm flipV="1">
            <a:off x="10327630" y="3465363"/>
            <a:ext cx="0" cy="298819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7" name="Picture 86">
            <a:extLst>
              <a:ext uri="{FF2B5EF4-FFF2-40B4-BE49-F238E27FC236}">
                <a16:creationId xmlns:a16="http://schemas.microsoft.com/office/drawing/2014/main" id="{EBD6A20A-C697-4A56-BF33-82EE66BF1F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4508" y="1218784"/>
            <a:ext cx="2695110" cy="2201639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881C4650-982D-4818-8BF4-14965E205742}"/>
              </a:ext>
            </a:extLst>
          </p:cNvPr>
          <p:cNvSpPr txBox="1"/>
          <p:nvPr/>
        </p:nvSpPr>
        <p:spPr>
          <a:xfrm>
            <a:off x="9948359" y="3836630"/>
            <a:ext cx="7585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000" b="1" dirty="0">
                <a:solidFill>
                  <a:schemeClr val="accent2"/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2560</a:t>
            </a:r>
          </a:p>
        </p:txBody>
      </p:sp>
    </p:spTree>
    <p:extLst>
      <p:ext uri="{BB962C8B-B14F-4D97-AF65-F5344CB8AC3E}">
        <p14:creationId xmlns:p14="http://schemas.microsoft.com/office/powerpoint/2010/main" val="757076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lidehelper - 038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05668D"/>
      </a:accent1>
      <a:accent2>
        <a:srgbClr val="427AA1"/>
      </a:accent2>
      <a:accent3>
        <a:srgbClr val="EBF2FA"/>
      </a:accent3>
      <a:accent4>
        <a:srgbClr val="679436"/>
      </a:accent4>
      <a:accent5>
        <a:srgbClr val="A5BE00"/>
      </a:accent5>
      <a:accent6>
        <a:srgbClr val="BFBFBF"/>
      </a:accent6>
      <a:hlink>
        <a:srgbClr val="05668D"/>
      </a:hlink>
      <a:folHlink>
        <a:srgbClr val="427AA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87</Words>
  <Application>Microsoft Office PowerPoint</Application>
  <PresentationFormat>แบบจอกว้าง</PresentationFormat>
  <Paragraphs>21</Paragraphs>
  <Slides>3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5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3</vt:i4>
      </vt:variant>
    </vt:vector>
  </HeadingPairs>
  <TitlesOfParts>
    <vt:vector size="9" baseType="lpstr">
      <vt:lpstr>Kanit Light</vt:lpstr>
      <vt:lpstr>Arial</vt:lpstr>
      <vt:lpstr>Kanit</vt:lpstr>
      <vt:lpstr>Calibri</vt:lpstr>
      <vt:lpstr>Calibri Light</vt:lpstr>
      <vt:lpstr>Office Theme</vt:lpstr>
      <vt:lpstr>งานนำเสนอ PowerPoint</vt:lpstr>
      <vt:lpstr>งานนำเสนอ PowerPoint</vt:lpstr>
      <vt:lpstr>งานนำเสนอ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Kanoklada Oumprasirt</dc:creator>
  <cp:lastModifiedBy>nater</cp:lastModifiedBy>
  <cp:revision>41</cp:revision>
  <dcterms:created xsi:type="dcterms:W3CDTF">2020-11-18T07:27:03Z</dcterms:created>
  <dcterms:modified xsi:type="dcterms:W3CDTF">2025-12-02T21:26:59Z</dcterms:modified>
</cp:coreProperties>
</file>